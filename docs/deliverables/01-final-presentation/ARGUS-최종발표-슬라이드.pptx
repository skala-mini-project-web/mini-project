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산돌고딕 Neo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2057400" cy="292608"/>
          </a:xfrm>
          <a:prstGeom prst="roundRect">
            <a:avLst/>
          </a:prstGeom>
          <a:solidFill>
            <a:srgbClr val="3B4357"/>
          </a:solidFill>
          <a:ln>
            <a:solidFill>
              <a:srgbClr val="3B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8076"/>
            <a:ext cx="20574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산돌고딕 Neo"/>
              </a:rPr>
              <a:t>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6217920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ple SD 산돌고딕 Neo"/>
              </a:rPr>
              <a:t>ARGUS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6766560" cy="1481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ple SD 산돌고딕 Neo"/>
              </a:rPr>
              <a:t>금융상품 판매 리스크
사전검증 AI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160520"/>
            <a:ext cx="6309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0">
                <a:solidFill>
                  <a:srgbClr val="DDE2EC"/>
                </a:solidFill>
                <a:latin typeface="Apple SD 산돌고딕 Neo"/>
              </a:rPr>
              <a:t>근거를 찾는 AI, 결정을 남기는 사람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502920"/>
            <a:ext cx="3566160" cy="5440680"/>
          </a:xfrm>
          <a:prstGeom prst="roundRect">
            <a:avLst/>
          </a:prstGeom>
          <a:solidFill>
            <a:srgbClr val="1D263C"/>
          </a:solidFill>
          <a:ln>
            <a:solidFill>
              <a:srgbClr val="41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024128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662A"/>
                </a:solidFill>
                <a:latin typeface="Apple SD 산돌고딕 Neo"/>
              </a:rPr>
              <a:t>LOCAL-FIRST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572768"/>
            <a:ext cx="2880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ple SD 산돌고딕 Neo"/>
              </a:rPr>
              <a:t>PM → reviewer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31720"/>
            <a:ext cx="274320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DDE2EC"/>
                </a:solidFill>
                <a:latin typeface="Apple SD 산돌고딕 Neo"/>
              </a:rPr>
              <a:t>판매 문서 분석
근거 추적
사람의 승인
GuardFit 적용 가이드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5010912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A8B2C6"/>
                </a:solidFill>
                <a:latin typeface="Apple SD 산돌고딕 Neo"/>
              </a:rPr>
              <a:t>Vue 3 · Spring Boot · FastAPI
PostgreSQL/pgvector · Ollama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7AFBD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A7AFBD"/>
                </a:solidFill>
                <a:latin typeface="Apple SD 산돌고딕 Ne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5603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8662A"/>
                </a:solidFill>
                <a:latin typeface="Apple SD 산돌고딕 Neo"/>
              </a:rPr>
              <a:t>WHY 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1B2D"/>
                </a:solidFill>
                <a:latin typeface="Apple SD 산돌고딕 Neo"/>
              </a:rPr>
              <a:t>판매 문구의 위험을 ‘근거와 승인’으로 연결합니다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566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1554480"/>
          </a:xfrm>
          <a:prstGeom prst="rect">
            <a:avLst/>
          </a:prstGeom>
          <a:solidFill>
            <a:srgbClr val="BE4340"/>
          </a:solidFill>
          <a:ln>
            <a:solidFill>
              <a:srgbClr val="BE4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27048"/>
            <a:ext cx="31546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1B2D"/>
                </a:solidFill>
                <a:latin typeface="Apple SD 산돌고딕 Neo"/>
              </a:rPr>
              <a:t>01  표현의 불균형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154679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6C7A"/>
                </a:solidFill>
                <a:latin typeface="Apple SD 산돌고딕 Neo"/>
              </a:rPr>
              <a:t>수익·안정성 표현이 손실 가능성·비용·유동성 제약보다 강조될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325880"/>
            <a:ext cx="3566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325880"/>
            <a:ext cx="73152" cy="1554480"/>
          </a:xfrm>
          <a:prstGeom prst="rect">
            <a:avLst/>
          </a:prstGeom>
          <a:solidFill>
            <a:srgbClr val="2D5BA4"/>
          </a:solidFill>
          <a:ln>
            <a:solidFill>
              <a:srgbClr val="2D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27048"/>
            <a:ext cx="31546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1B2D"/>
                </a:solidFill>
                <a:latin typeface="Apple SD 산돌고딕 Neo"/>
              </a:rPr>
              <a:t>02  근거의 단절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11680"/>
            <a:ext cx="3154679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6C7A"/>
                </a:solidFill>
                <a:latin typeface="Apple SD 산돌고딕 Neo"/>
              </a:rPr>
              <a:t>AI 결과가 어느 문서·어느 구절에서 나왔는지 추적하기 어렵습니다.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325880"/>
            <a:ext cx="3566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325880"/>
            <a:ext cx="73152" cy="1554480"/>
          </a:xfrm>
          <a:prstGeom prst="rect">
            <a:avLst/>
          </a:prstGeom>
          <a:solidFill>
            <a:srgbClr val="2A8463"/>
          </a:solidFill>
          <a:ln>
            <a:solidFill>
              <a:srgbClr val="2A8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527048"/>
            <a:ext cx="31546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1B2D"/>
                </a:solidFill>
                <a:latin typeface="Apple SD 산돌고딕 Neo"/>
              </a:rPr>
              <a:t>03  조치의 단절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011680"/>
            <a:ext cx="3154679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6C7A"/>
                </a:solidFill>
                <a:latin typeface="Apple SD 산돌고딕 Neo"/>
              </a:rPr>
              <a:t>검토 승인 결과가 실제 판매 화면의 보호조치 가이드까지 이어지지 않습니다.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46120"/>
            <a:ext cx="11192256" cy="251460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584448"/>
            <a:ext cx="2468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 SD 산돌고딕 Neo"/>
              </a:rPr>
              <a:t>ARGUS의 경계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529584"/>
            <a:ext cx="8001000" cy="1737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600">
                <a:solidFill>
                  <a:srgbClr val="E7EBF2"/>
                </a:solidFill>
                <a:latin typeface="Apple SD 산돌고딕 Neo"/>
              </a:rPr>
              <a:t>로컬에서 실행되는 단일 업무 backend + 독립 AI service 구성입니다. MSA가 아닙니다.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600">
                <a:solidFill>
                  <a:srgbClr val="E7EBF2"/>
                </a:solidFill>
                <a:latin typeface="Apple SD 산돌고딕 Neo"/>
              </a:rPr>
              <a:t>AI는 위험 표현 후보와 검색 근거를 제안하고, 최종 승인·반려는 reviewer가 결정합니다.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600">
                <a:solidFill>
                  <a:srgbClr val="E7EBF2"/>
                </a:solidFill>
                <a:latin typeface="Apple SD 산돌고딕 Neo"/>
              </a:rPr>
              <a:t>실제 금융·법률 자문 또는 운영 서비스가 아닌 합성 데이터 기반 데모입니다.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46C7A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46C7A"/>
                </a:solidFill>
                <a:latin typeface="Apple SD 산돌고딕 Ne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5603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8662A"/>
                </a:solidFill>
                <a:latin typeface="Apple SD 산돌고딕 Neo"/>
              </a:rPr>
              <a:t>CORE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1B2D"/>
                </a:solidFill>
                <a:latin typeface="Apple SD 산돌고딕 Neo"/>
              </a:rPr>
              <a:t>PM에서 reviewer까지, 승인된 조치만 남깁니다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9344"/>
            <a:ext cx="365760" cy="365760"/>
          </a:xfrm>
          <a:prstGeom prst="roundRect">
            <a:avLst/>
          </a:prstGeom>
          <a:solidFill>
            <a:srgbClr val="2D5BA4"/>
          </a:solidFill>
          <a:ln>
            <a:solidFill>
              <a:srgbClr val="2D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36776"/>
            <a:ext cx="3657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산돌고딕 Ne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39696"/>
            <a:ext cx="162763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1B2D"/>
                </a:solidFill>
                <a:latin typeface="Apple SD 산돌고딕 Neo"/>
              </a:rPr>
              <a:t>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06040"/>
            <a:ext cx="162763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6C7A"/>
                </a:solidFill>
                <a:latin typeface="Apple SD 산돌고딕 Neo"/>
              </a:rPr>
              <a:t>상품 등록
PDF 업로드·텍스트 확정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267712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E8662A"/>
                </a:solidFill>
                <a:latin typeface="Apple SD 산돌고딕 Ne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79" y="1609344"/>
            <a:ext cx="365760" cy="365760"/>
          </a:xfrm>
          <a:prstGeom prst="round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79" y="1636776"/>
            <a:ext cx="3657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산돌고딕 Ne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139696"/>
            <a:ext cx="162763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1B2D"/>
                </a:solidFill>
                <a:latin typeface="Apple SD 산돌고딕 Neo"/>
              </a:rPr>
              <a:t>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606040"/>
            <a:ext cx="162763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6C7A"/>
                </a:solidFill>
                <a:latin typeface="Apple SD 산돌고딕 Neo"/>
              </a:rPr>
              <a:t>공식 사실 확인
Persona·Red Team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267712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E8662A"/>
                </a:solidFill>
                <a:latin typeface="Apple SD 산돌고딕 Ne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2080" y="1609344"/>
            <a:ext cx="365760" cy="365760"/>
          </a:xfrm>
          <a:prstGeom prst="roundRect">
            <a:avLst/>
          </a:prstGeom>
          <a:solidFill>
            <a:srgbClr val="2A8463"/>
          </a:solidFill>
          <a:ln>
            <a:solidFill>
              <a:srgbClr val="2A8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636776"/>
            <a:ext cx="3657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산돌고딕 Ne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139696"/>
            <a:ext cx="162763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1B2D"/>
                </a:solidFill>
                <a:latin typeface="Apple SD 산돌고딕 Neo"/>
              </a:rPr>
              <a:t>근거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2606040"/>
            <a:ext cx="162763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6C7A"/>
                </a:solidFill>
                <a:latin typeface="Apple SD 산돌고딕 Neo"/>
              </a:rPr>
              <a:t>Finding
RAG trace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2267712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E8662A"/>
                </a:solidFill>
                <a:latin typeface="Apple SD 산돌고딕 Neo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0" y="1609344"/>
            <a:ext cx="365760" cy="365760"/>
          </a:xfrm>
          <a:prstGeom prst="roundRect">
            <a:avLst/>
          </a:prstGeom>
          <a:solidFill>
            <a:srgbClr val="BE4340"/>
          </a:solidFill>
          <a:ln>
            <a:solidFill>
              <a:srgbClr val="BE4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1636776"/>
            <a:ext cx="3657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산돌고딕 Ne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2139696"/>
            <a:ext cx="162763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1B2D"/>
                </a:solidFill>
                <a:latin typeface="Apple SD 산돌고딕 Neo"/>
              </a:rPr>
              <a:t>reviewer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2606040"/>
            <a:ext cx="162763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6C7A"/>
                </a:solidFill>
                <a:latin typeface="Apple SD 산돌고딕 Neo"/>
              </a:rPr>
              <a:t>원문·근거 검토
승인 또는 반려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267712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E8662A"/>
                </a:solidFill>
                <a:latin typeface="Apple SD 산돌고딕 Neo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84080" y="1609344"/>
            <a:ext cx="365760" cy="3657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1636776"/>
            <a:ext cx="3657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산돌고딕 Neo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1512" y="2139696"/>
            <a:ext cx="162763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1B2D"/>
                </a:solidFill>
                <a:latin typeface="Apple SD 산돌고딕 Neo"/>
              </a:rPr>
              <a:t>승인 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1512" y="2606040"/>
            <a:ext cx="162763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6C7A"/>
                </a:solidFill>
                <a:latin typeface="Apple SD 산돌고딕 Neo"/>
              </a:rPr>
              <a:t>Risk Pattern
GuardFit 적용 가이드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858768"/>
            <a:ext cx="5440680" cy="1508760"/>
          </a:xfrm>
          <a:prstGeom prst="roundRect">
            <a:avLst/>
          </a:prstGeom>
          <a:solidFill>
            <a:srgbClr val="E4F4ED"/>
          </a:solidFill>
          <a:ln>
            <a:solidFill>
              <a:srgbClr val="E4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11480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8463"/>
                </a:solidFill>
                <a:latin typeface="Apple SD 산돌고딕 Neo"/>
              </a:rPr>
              <a:t>승인 경로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4078224"/>
            <a:ext cx="3703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212837"/>
                </a:solidFill>
                <a:latin typeface="Apple SD 산돌고딕 Neo"/>
              </a:rPr>
              <a:t>선택 Finding → Risk Pattern → GuardFit 승인 → PM 가이드 노출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8" y="3858768"/>
            <a:ext cx="5458968" cy="1508760"/>
          </a:xfrm>
          <a:prstGeom prst="roundRect">
            <a:avLst/>
          </a:prstGeom>
          <a:solidFill>
            <a:srgbClr val="F9E7E6"/>
          </a:solidFill>
          <a:ln>
            <a:solidFill>
              <a:srgbClr val="F9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411480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E4340"/>
                </a:solidFill>
                <a:latin typeface="Apple SD 산돌고딕 Neo"/>
              </a:rPr>
              <a:t>반려 경로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8" y="4078224"/>
            <a:ext cx="3703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212837"/>
                </a:solidFill>
                <a:latin typeface="Apple SD 산돌고딕 Neo"/>
              </a:rPr>
              <a:t>comment 필수 → Pattern·GuardFit 미생성 → PM 수정 필요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815584"/>
            <a:ext cx="10972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646C7A"/>
                </a:solidFill>
                <a:latin typeface="Apple SD 산돌고딕 Neo"/>
              </a:rPr>
              <a:t>분석이 생성된 원문은 수정하거나 확정을 해제할 수 없습니다.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46C7A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46C7A"/>
                </a:solidFill>
                <a:latin typeface="Apple SD 산돌고딕 Ne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5603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8662A"/>
                </a:solidFill>
                <a:latin typeface="Apple SD 산돌고딕 Neo"/>
              </a:rP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1B2D"/>
                </a:solidFill>
                <a:latin typeface="Apple SD 산돌고딕 Neo"/>
              </a:rPr>
              <a:t>실제 구현 아키텍처: 업무 흐름과 AI 책임을 분리</a:t>
            </a:r>
          </a:p>
        </p:txBody>
      </p:sp>
      <p:pic>
        <p:nvPicPr>
          <p:cNvPr id="5" name="ARGUS 구현·설계 근거 이미지" descr="system-architecture.png"/>
          <p:cNvPicPr>
            <a:picLocks noChangeAspect="1"/>
          </p:cNvPicPr>
          <p:nvPr/>
        </p:nvPicPr>
        <p:blipFill>
          <a:blip r:embed="rId2"/>
          <a:srcRect l="3555" r="3555"/>
          <a:stretch>
            <a:fillRect/>
          </a:stretch>
        </p:blipFill>
        <p:spPr>
          <a:xfrm>
            <a:off x="502920" y="1207008"/>
            <a:ext cx="8229600" cy="4983480"/>
          </a:xfrm>
          <a:prstGeom prst="rect">
            <a:avLst/>
          </a:prstGeom>
          <a:ln w="10160">
            <a:solidFill>
              <a:srgbClr val="DCE0E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979408" y="1207008"/>
            <a:ext cx="2715768" cy="498348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53728" y="1527048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ple SD 산돌고딕 Neo"/>
              </a:rPr>
              <a:t>구성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7152" y="1993392"/>
            <a:ext cx="2194560" cy="35661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200">
                <a:solidFill>
                  <a:srgbClr val="E2E7F0"/>
                </a:solidFill>
                <a:latin typeface="Apple SD 산돌고딕 Neo"/>
              </a:rPr>
              <a:t>Vue 3 SPA: 역할별 화면과 route guard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200">
                <a:solidFill>
                  <a:srgbClr val="E2E7F0"/>
                </a:solidFill>
                <a:latin typeface="Apple SD 산돌고딕 Neo"/>
              </a:rPr>
              <a:t>Spring Boot: 업무 workflow·PDFBox·감사 통제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200">
                <a:solidFill>
                  <a:srgbClr val="E2E7F0"/>
                </a:solidFill>
                <a:latin typeface="Apple SD 산돌고딕 Neo"/>
              </a:rPr>
              <a:t>PostgreSQL 16 + pgvector: 업무·검색 근거 저장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200">
                <a:solidFill>
                  <a:srgbClr val="E2E7F0"/>
                </a:solidFill>
                <a:latin typeface="Apple SD 산돌고딕 Neo"/>
              </a:rPr>
              <a:t>FastAPI: 구조화 요청·응답 검증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200">
                <a:solidFill>
                  <a:srgbClr val="E2E7F0"/>
                </a:solidFill>
                <a:latin typeface="Apple SD 산돌고딕 Neo"/>
              </a:rPr>
              <a:t>Ollama: bge-m3 임베딩, qwen2.5 분석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200">
                <a:solidFill>
                  <a:srgbClr val="E2E7F0"/>
                </a:solidFill>
                <a:latin typeface="Apple SD 산돌고딕 Neo"/>
              </a:rPr>
              <a:t>Docker Compose + Nginx 기반 로컬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7152" y="5650992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8662A"/>
                </a:solidFill>
                <a:latin typeface="Apple SD 산돌고딕 Neo"/>
              </a:rPr>
              <a:t>AI service는 DB에 직접 쓰지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46C7A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46C7A"/>
                </a:solidFill>
                <a:latin typeface="Apple SD 산돌고딕 Ne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5603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8662A"/>
                </a:solidFill>
                <a:latin typeface="Apple SD 산돌고딕 Neo"/>
              </a:rPr>
              <a:t>IMPLEMENTED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1B2D"/>
                </a:solidFill>
                <a:latin typeface="Apple SD 산돌고딕 Neo"/>
              </a:rPr>
              <a:t>구현 화면으로 보는 PM의 분석 준비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53288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ARGUS 구현·설계 근거 이미지" descr="01-역할선택.png"/>
          <p:cNvPicPr>
            <a:picLocks noChangeAspect="1"/>
          </p:cNvPicPr>
          <p:nvPr/>
        </p:nvPicPr>
        <p:blipFill>
          <a:blip r:embed="rId2"/>
          <a:srcRect l="27416" r="27416"/>
          <a:stretch>
            <a:fillRect/>
          </a:stretch>
        </p:blipFill>
        <p:spPr>
          <a:xfrm>
            <a:off x="603504" y="1353312"/>
            <a:ext cx="233172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" y="5230368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41B2D"/>
                </a:solidFill>
                <a:latin typeface="Apple SD 산돌고딕 Neo"/>
              </a:rPr>
              <a:t>01  역할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5586984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46C7A"/>
                </a:solidFill>
                <a:latin typeface="Apple SD 산돌고딕 Neo"/>
              </a:rPr>
              <a:t>PM·reviewer 진입 분리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234440"/>
            <a:ext cx="253288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ARGUS 구현·설계 근거 이미지" descr="02-PM-대시보드.png"/>
          <p:cNvPicPr>
            <a:picLocks noChangeAspect="1"/>
          </p:cNvPicPr>
          <p:nvPr/>
        </p:nvPicPr>
        <p:blipFill>
          <a:blip r:embed="rId3"/>
          <a:srcRect l="28138" r="28138"/>
          <a:stretch>
            <a:fillRect/>
          </a:stretch>
        </p:blipFill>
        <p:spPr>
          <a:xfrm>
            <a:off x="3419856" y="1353312"/>
            <a:ext cx="2331720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65576" y="5230368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41B2D"/>
                </a:solidFill>
                <a:latin typeface="Apple SD 산돌고딕 Neo"/>
              </a:rPr>
              <a:t>02  PM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5586984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46C7A"/>
                </a:solidFill>
                <a:latin typeface="Apple SD 산돌고딕 Neo"/>
              </a:rPr>
              <a:t>상품·분석 상태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234440"/>
            <a:ext cx="253288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ARGUS 구현·설계 근거 이미지" descr="03-상품상세-문서.png"/>
          <p:cNvPicPr>
            <a:picLocks noChangeAspect="1"/>
          </p:cNvPicPr>
          <p:nvPr/>
        </p:nvPicPr>
        <p:blipFill>
          <a:blip r:embed="rId4"/>
          <a:srcRect l="28138" r="28138"/>
          <a:stretch>
            <a:fillRect/>
          </a:stretch>
        </p:blipFill>
        <p:spPr>
          <a:xfrm>
            <a:off x="6236208" y="1353312"/>
            <a:ext cx="2331720" cy="3703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81928" y="5230368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41B2D"/>
                </a:solidFill>
                <a:latin typeface="Apple SD 산돌고딕 Neo"/>
              </a:rPr>
              <a:t>03  상품·문서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5586984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46C7A"/>
                </a:solidFill>
                <a:latin typeface="Apple SD 산돌고딕 Neo"/>
              </a:rPr>
              <a:t>PDF·텍스트·공식 사실 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1234440"/>
            <a:ext cx="253288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ARGUS 구현·설계 근거 이미지" descr="04-분석조건.png"/>
          <p:cNvPicPr>
            <a:picLocks noChangeAspect="1"/>
          </p:cNvPicPr>
          <p:nvPr/>
        </p:nvPicPr>
        <p:blipFill>
          <a:blip r:embed="rId5"/>
          <a:srcRect l="16136" r="16136"/>
          <a:stretch>
            <a:fillRect/>
          </a:stretch>
        </p:blipFill>
        <p:spPr>
          <a:xfrm>
            <a:off x="9052560" y="1353312"/>
            <a:ext cx="2331720" cy="3703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98280" y="5230368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41B2D"/>
                </a:solidFill>
                <a:latin typeface="Apple SD 산돌고딕 Neo"/>
              </a:rPr>
              <a:t>04  분석 조건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5586984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46C7A"/>
                </a:solidFill>
                <a:latin typeface="Apple SD 산돌고딕 Neo"/>
              </a:rPr>
              <a:t>Persona·근거 문서·Red Team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46C7A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46C7A"/>
                </a:solidFill>
                <a:latin typeface="Apple SD 산돌고딕 Ne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5603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8662A"/>
                </a:solidFill>
                <a:latin typeface="Apple SD 산돌고딕 Neo"/>
              </a:rPr>
              <a:t>RAG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1B2D"/>
                </a:solidFill>
                <a:latin typeface="Apple SD 산돌고딕 Neo"/>
              </a:rPr>
              <a:t>검색 근거와 Finding을 한 화면에서 감사 가능하게</a:t>
            </a:r>
          </a:p>
        </p:txBody>
      </p:sp>
      <p:pic>
        <p:nvPicPr>
          <p:cNvPr id="5" name="ARGUS 구현·설계 근거 이미지" descr="05-분석결과-RAG.png"/>
          <p:cNvPicPr>
            <a:picLocks noChangeAspect="1"/>
          </p:cNvPicPr>
          <p:nvPr/>
        </p:nvPicPr>
        <p:blipFill>
          <a:blip r:embed="rId2"/>
          <a:srcRect t="9016" b="55387"/>
          <a:stretch>
            <a:fillRect/>
          </a:stretch>
        </p:blipFill>
        <p:spPr>
          <a:xfrm>
            <a:off x="502920" y="1216152"/>
            <a:ext cx="6400800" cy="5047488"/>
          </a:xfrm>
          <a:prstGeom prst="rect">
            <a:avLst/>
          </a:prstGeom>
          <a:ln w="10160">
            <a:solidFill>
              <a:srgbClr val="DCE0E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7159752" y="1216152"/>
            <a:ext cx="4535424" cy="504748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70648" y="1536192"/>
            <a:ext cx="1325880" cy="292608"/>
          </a:xfrm>
          <a:prstGeom prst="roundRect">
            <a:avLst/>
          </a:prstGeom>
          <a:solidFill>
            <a:srgbClr val="FCECE2"/>
          </a:solidFill>
          <a:ln>
            <a:solidFill>
              <a:srgbClr val="FCE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0648" y="1549907"/>
            <a:ext cx="13258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E8662A"/>
                </a:solidFill>
                <a:latin typeface="Apple SD 산돌고딕 Neo"/>
              </a:rPr>
              <a:t>PROVENANCE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0648" y="1993392"/>
            <a:ext cx="376732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141B2D"/>
                </a:solidFill>
                <a:latin typeface="Apple SD 산돌고딕 Neo"/>
              </a:rPr>
              <a:t>결과만 보여주지 않습니다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3216" y="2670048"/>
            <a:ext cx="3794760" cy="2651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9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400">
                <a:solidFill>
                  <a:srgbClr val="212837"/>
                </a:solidFill>
                <a:latin typeface="Apple SD 산돌고딕 Neo"/>
              </a:rPr>
              <a:t>검색 모델·실행 시각·모델 identity를 표시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9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400">
                <a:solidFill>
                  <a:srgbClr val="212837"/>
                </a:solidFill>
                <a:latin typeface="Apple SD 산돌고딕 Neo"/>
              </a:rPr>
              <a:t>검색된 근거 문서와 cosine 유사도 확인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9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400">
                <a:solidFill>
                  <a:srgbClr val="212837"/>
                </a:solidFill>
                <a:latin typeface="Apple SD 산돌고딕 Neo"/>
              </a:rPr>
              <a:t>Finding마다 chunk ID와 exact evidence span 연결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9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400">
                <a:solidFill>
                  <a:srgbClr val="212837"/>
                </a:solidFill>
                <a:latin typeface="Apple SD 산돌고딕 Neo"/>
              </a:rPr>
              <a:t>VERIFIED 공식 사실 snapshot을 함께 추적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9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400">
                <a:solidFill>
                  <a:srgbClr val="212837"/>
                </a:solidFill>
                <a:latin typeface="Apple SD 산돌고딕 Neo"/>
              </a:rPr>
              <a:t>reviewer가 원문·근거·판정을 같은 맥락에서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648" y="5715000"/>
            <a:ext cx="3703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46C7A"/>
                </a:solidFill>
                <a:latin typeface="Apple SD 산돌고딕 Neo"/>
              </a:rPr>
              <a:t>화면 캡처: docs/deliverables/03-wireframe/05-분석결과-RAG.png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46C7A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46C7A"/>
                </a:solidFill>
                <a:latin typeface="Apple SD 산돌고딕 Ne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5603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8662A"/>
                </a:solidFill>
                <a:latin typeface="Apple SD 산돌고딕 Neo"/>
              </a:rPr>
              <a:t>TRUST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1B2D"/>
                </a:solidFill>
                <a:latin typeface="Apple SD 산돌고딕 Neo"/>
              </a:rPr>
              <a:t>RAG provenance는 저장 전에 backend가 검증합니다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2487168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17904"/>
            <a:ext cx="3840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E8662A"/>
                </a:solidFill>
                <a:latin typeface="Apple SD 산돌고딕 Ne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81328"/>
            <a:ext cx="1600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1B2D"/>
                </a:solidFill>
                <a:latin typeface="Apple SD 산돌고딕 Neo"/>
              </a:rPr>
              <a:t>입력 고정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93392"/>
            <a:ext cx="2084831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6C7A"/>
                </a:solidFill>
                <a:latin typeface="Apple SD 산돌고딕 Neo"/>
              </a:rPr>
              <a:t>확정 판매 문서 + VERIFIED 사실
Persona 1~4 + 근거 문서 1~3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874519"/>
            <a:ext cx="32918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E8662A"/>
                </a:solidFill>
                <a:latin typeface="Apple SD 산돌고딕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298448"/>
            <a:ext cx="2487168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517904"/>
            <a:ext cx="3840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E8662A"/>
                </a:solidFill>
                <a:latin typeface="Apple SD 산돌고딕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1481328"/>
            <a:ext cx="1600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1B2D"/>
                </a:solidFill>
                <a:latin typeface="Apple SD 산돌고딕 Neo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993392"/>
            <a:ext cx="2084831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6C7A"/>
                </a:solidFill>
                <a:latin typeface="Apple SD 산돌고딕 Neo"/>
              </a:rPr>
              <a:t>문서 chunking → pgvector
cosine top-6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874519"/>
            <a:ext cx="32918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E8662A"/>
                </a:solidFill>
                <a:latin typeface="Apple SD 산돌고딕 Ne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1298448"/>
            <a:ext cx="2487168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517904"/>
            <a:ext cx="3840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E8662A"/>
                </a:solidFill>
                <a:latin typeface="Apple SD 산돌고딕 Ne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704" y="1481328"/>
            <a:ext cx="1600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1B2D"/>
                </a:solidFill>
                <a:latin typeface="Apple SD 산돌고딕 Neo"/>
              </a:rPr>
              <a:t>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1993392"/>
            <a:ext cx="2084831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6C7A"/>
                </a:solidFill>
                <a:latin typeface="Apple SD 산돌고딕 Neo"/>
              </a:rPr>
              <a:t>검색 chunk만 Ollama 전달
Finding + ID + exact span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1874519"/>
            <a:ext cx="32918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E8662A"/>
                </a:solidFill>
                <a:latin typeface="Apple SD 산돌고딕 Neo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298448"/>
            <a:ext cx="2487168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856" y="1517904"/>
            <a:ext cx="3840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E8662A"/>
                </a:solidFill>
                <a:latin typeface="Apple SD 산돌고딕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2056" y="1481328"/>
            <a:ext cx="1600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1B2D"/>
                </a:solidFill>
                <a:latin typeface="Apple SD 산돌고딕 Neo"/>
              </a:rPr>
              <a:t>검증·저장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1993392"/>
            <a:ext cx="2084831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6C7A"/>
                </a:solidFill>
                <a:latin typeface="Apple SD 산돌고딕 Neo"/>
              </a:rPr>
              <a:t>허용 ID·excerpt 포함 검증
snapshot·Finding·audit 저장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337560"/>
            <a:ext cx="11192256" cy="233172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657600"/>
            <a:ext cx="187451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 SD 산돌고딕 Neo"/>
              </a:rPr>
              <a:t>저장 거부 조건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602736"/>
            <a:ext cx="4892040" cy="1508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400">
                <a:solidFill>
                  <a:srgbClr val="E8ECF3"/>
                </a:solidFill>
                <a:latin typeface="Apple SD 산돌고딕 Neo"/>
              </a:rPr>
              <a:t>선택하지 않은 Persona·근거 문서·공식 사실 ID가 결과에 포함됨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400">
                <a:solidFill>
                  <a:srgbClr val="E8ECF3"/>
                </a:solidFill>
                <a:latin typeface="Apple SD 산돌고딕 Neo"/>
              </a:rPr>
              <a:t>evidenceSpans.excerpt가 해당 검색 chunk 원문에 정확히 포함되지 않음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400">
                <a:solidFill>
                  <a:srgbClr val="E8ECF3"/>
                </a:solidFill>
                <a:latin typeface="Apple SD 산돌고딕 Neo"/>
              </a:rPr>
              <a:t>공유 bearer token 없이 AI 내부 endpoint 호출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3675887"/>
            <a:ext cx="1097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E8662A"/>
                </a:solidFill>
                <a:latin typeface="Apple SD 산돌고딕 Neo"/>
              </a:rPr>
              <a:t>불변성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4160520"/>
            <a:ext cx="313639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E8ECF3"/>
                </a:solidFill>
                <a:latin typeface="Apple SD 산돌고딕 Neo"/>
              </a:rPr>
              <a:t>완료 retrieval snapshot 변경 불가
terminal state와 audit event를 같은 transaction에 저장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46C7A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46C7A"/>
                </a:solidFill>
                <a:latin typeface="Apple SD 산돌고딕 Ne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5603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8662A"/>
                </a:solidFill>
                <a:latin typeface="Apple SD 산돌고딕 Neo"/>
              </a:rPr>
              <a:t>HUMAN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1B2D"/>
                </a:solidFill>
                <a:latin typeface="Apple SD 산돌고딕 Neo"/>
              </a:rPr>
              <a:t>사람의 승인 이후에만 보호조치가 제품 경험으로 이동</a:t>
            </a:r>
          </a:p>
        </p:txBody>
      </p:sp>
      <p:pic>
        <p:nvPicPr>
          <p:cNvPr id="5" name="ARGUS 구현·설계 근거 이미지" descr="06-reviewer-검토상세.png"/>
          <p:cNvPicPr>
            <a:picLocks noChangeAspect="1"/>
          </p:cNvPicPr>
          <p:nvPr/>
        </p:nvPicPr>
        <p:blipFill>
          <a:blip r:embed="rId2"/>
          <a:srcRect t="14399" b="37026"/>
          <a:stretch>
            <a:fillRect/>
          </a:stretch>
        </p:blipFill>
        <p:spPr>
          <a:xfrm>
            <a:off x="502920" y="1234440"/>
            <a:ext cx="5394960" cy="4480560"/>
          </a:xfrm>
          <a:prstGeom prst="rect">
            <a:avLst/>
          </a:prstGeom>
          <a:ln w="10160">
            <a:solidFill>
              <a:srgbClr val="DCE0E6"/>
            </a:solidFill>
          </a:ln>
        </p:spPr>
      </p:pic>
      <p:pic>
        <p:nvPicPr>
          <p:cNvPr id="6" name="ARGUS 구현·설계 근거 이미지" descr="07-GuardFit-가이드.png"/>
          <p:cNvPicPr>
            <a:picLocks noChangeAspect="1"/>
          </p:cNvPicPr>
          <p:nvPr/>
        </p:nvPicPr>
        <p:blipFill>
          <a:blip r:embed="rId3"/>
          <a:srcRect l="7129" r="7129"/>
          <a:stretch>
            <a:fillRect/>
          </a:stretch>
        </p:blipFill>
        <p:spPr>
          <a:xfrm>
            <a:off x="6163056" y="1234440"/>
            <a:ext cx="5532120" cy="4480560"/>
          </a:xfrm>
          <a:prstGeom prst="rect">
            <a:avLst/>
          </a:prstGeom>
          <a:ln w="10160">
            <a:solidFill>
              <a:srgbClr val="DCE0E6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13232" y="1444752"/>
            <a:ext cx="960120" cy="292608"/>
          </a:xfrm>
          <a:prstGeom prst="roundRect">
            <a:avLst/>
          </a:prstGeom>
          <a:solidFill>
            <a:srgbClr val="FCECE2"/>
          </a:solidFill>
          <a:ln>
            <a:solidFill>
              <a:srgbClr val="FCE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58468"/>
            <a:ext cx="9601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E8662A"/>
                </a:solidFill>
                <a:latin typeface="Apple SD 산돌고딕 Neo"/>
              </a:rPr>
              <a:t>REVIEWER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444752"/>
            <a:ext cx="987552" cy="292608"/>
          </a:xfrm>
          <a:prstGeom prst="roundRect">
            <a:avLst/>
          </a:prstGeom>
          <a:solidFill>
            <a:srgbClr val="E4F4ED"/>
          </a:solidFill>
          <a:ln>
            <a:solidFill>
              <a:srgbClr val="E4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458468"/>
            <a:ext cx="98755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2A8463"/>
                </a:solidFill>
                <a:latin typeface="Apple SD 산돌고딕 Neo"/>
              </a:rPr>
              <a:t>PM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815584"/>
            <a:ext cx="5230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1B2D"/>
                </a:solidFill>
                <a:latin typeface="Apple SD 산돌고딕 Neo"/>
              </a:rPr>
              <a:t>원문·공식 사실·Finding·RAG trace를 확인하고 승인/반려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5815584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1B2D"/>
                </a:solidFill>
                <a:latin typeface="Apple SD 산돌고딕 Neo"/>
              </a:rPr>
              <a:t>승인된 GuardFit만 적용 위치·문구·검증 항목으로 노출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46C7A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46C7A"/>
                </a:solidFill>
                <a:latin typeface="Apple SD 산돌고딕 Ne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5603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8662A"/>
                </a:solidFill>
                <a:latin typeface="Apple SD 산돌고딕 Neo"/>
              </a:rPr>
              <a:t>DATA &amp; 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1B2D"/>
                </a:solidFill>
                <a:latin typeface="Apple SD 산돌고딕 Neo"/>
              </a:rPr>
              <a:t>데이터 모델이 분석·근거·검토·조치의 이력을 연결</a:t>
            </a:r>
          </a:p>
        </p:txBody>
      </p:sp>
      <p:pic>
        <p:nvPicPr>
          <p:cNvPr id="5" name="ARGUS 구현·설계 근거 이미지" descr="erd-core.png"/>
          <p:cNvPicPr>
            <a:picLocks noChangeAspect="1"/>
          </p:cNvPicPr>
          <p:nvPr/>
        </p:nvPicPr>
        <p:blipFill>
          <a:blip r:embed="rId2"/>
          <a:srcRect l="6228" r="6228"/>
          <a:stretch>
            <a:fillRect/>
          </a:stretch>
        </p:blipFill>
        <p:spPr>
          <a:xfrm>
            <a:off x="502920" y="1216152"/>
            <a:ext cx="7818120" cy="5029200"/>
          </a:xfrm>
          <a:prstGeom prst="rect">
            <a:avLst/>
          </a:prstGeom>
          <a:ln w="10160">
            <a:solidFill>
              <a:srgbClr val="DCE0E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567928" y="1216152"/>
            <a:ext cx="3127248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7968" y="1554480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1B2D"/>
                </a:solidFill>
                <a:latin typeface="Apple SD 산돌고딕 Neo"/>
              </a:rPr>
              <a:t>핵심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0536" y="2103120"/>
            <a:ext cx="2468880" cy="2743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Product · Document · Ground Truth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Analysis · Persona · Evidence selection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Retrieval snapshot · Chunk · Finding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Review decision · Risk Pattern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GuardFit proposal · Approval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append-only Audit Event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0536" y="5138928"/>
            <a:ext cx="2523744" cy="713232"/>
          </a:xfrm>
          <a:prstGeom prst="roundRect">
            <a:avLst/>
          </a:prstGeom>
          <a:solidFill>
            <a:srgbClr val="E7EFFA"/>
          </a:solidFill>
          <a:ln>
            <a:solidFill>
              <a:srgbClr val="E7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5276088"/>
            <a:ext cx="2249424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D5BA4"/>
                </a:solidFill>
                <a:latin typeface="Apple SD 산돌고딕 Neo"/>
              </a:rPr>
              <a:t>Flyway + HNSW cosine index
PostgreSQL 16 · pgvector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46C7A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46C7A"/>
                </a:solidFill>
                <a:latin typeface="Apple SD 산돌고딕 Ne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5603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8662A"/>
                </a:solidFill>
                <a:latin typeface="Apple SD 산돌고딕 Neo"/>
              </a:rPr>
              <a:t>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1B2D"/>
                </a:solidFill>
                <a:latin typeface="Apple SD 산돌고딕 Neo"/>
              </a:rPr>
              <a:t>실패를 숨기지 않고, 중복과 드리프트를 통제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3493008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3493008" cy="73152"/>
          </a:xfrm>
          <a:prstGeom prst="rect">
            <a:avLst/>
          </a:prstGeom>
          <a:solidFill>
            <a:srgbClr val="2D5BA4"/>
          </a:solidFill>
          <a:ln>
            <a:solidFill>
              <a:srgbClr val="2D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81912"/>
            <a:ext cx="29626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1B2D"/>
                </a:solidFill>
                <a:latin typeface="Apple SD 산돌고딕 Neo"/>
              </a:rPr>
              <a:t>중복 실행 방지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12264"/>
            <a:ext cx="2971800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6C7A"/>
                </a:solidFill>
                <a:latin typeface="Apple SD 산돌고딕 Neo"/>
              </a:rPr>
              <a:t>Idempotency-Key와 execution token으로 같은 요청의 중복 실행을 제어합니다.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298448"/>
            <a:ext cx="3493008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298448"/>
            <a:ext cx="3493008" cy="73152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581912"/>
            <a:ext cx="29626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1B2D"/>
                </a:solidFill>
                <a:latin typeface="Apple SD 산돌고딕 Neo"/>
              </a:rPr>
              <a:t>terminal 원자성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112264"/>
            <a:ext cx="2971800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6C7A"/>
                </a:solidFill>
                <a:latin typeface="Apple SD 산돌고딕 Neo"/>
              </a:rPr>
              <a:t>분석 terminal state와 terminal audit event를 같은 transaction에 기록합니다.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298448"/>
            <a:ext cx="3493008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298448"/>
            <a:ext cx="3493008" cy="73152"/>
          </a:xfrm>
          <a:prstGeom prst="rect">
            <a:avLst/>
          </a:prstGeom>
          <a:solidFill>
            <a:srgbClr val="BE4340"/>
          </a:solidFill>
          <a:ln>
            <a:solidFill>
              <a:srgbClr val="BE4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581912"/>
            <a:ext cx="29626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1B2D"/>
                </a:solidFill>
                <a:latin typeface="Apple SD 산돌고딕 Neo"/>
              </a:rPr>
              <a:t>복구 경로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112264"/>
            <a:ext cx="2971800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6C7A"/>
                </a:solidFill>
                <a:latin typeface="Apple SD 산돌고딕 Neo"/>
              </a:rPr>
              <a:t>stale RUNNING 분석을 FAILED로 전환하고 retry 가능한 경로를 둡니다.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30168"/>
            <a:ext cx="3493008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30168"/>
            <a:ext cx="3493008" cy="73152"/>
          </a:xfrm>
          <a:prstGeom prst="rect">
            <a:avLst/>
          </a:prstGeom>
          <a:solidFill>
            <a:srgbClr val="2A8463"/>
          </a:solidFill>
          <a:ln>
            <a:solidFill>
              <a:srgbClr val="2A8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913631"/>
            <a:ext cx="29626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1B2D"/>
                </a:solidFill>
                <a:latin typeface="Apple SD 산돌고딕 Neo"/>
              </a:rPr>
              <a:t>모델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443983"/>
            <a:ext cx="2971800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6C7A"/>
                </a:solidFill>
                <a:latin typeface="Apple SD 산돌고딕 Neo"/>
              </a:rPr>
              <a:t>embedding tag에 Ollama digest를 포함해 색인과 검색의 모델 정합성을 고정합니다.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630168"/>
            <a:ext cx="3493008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3630168"/>
            <a:ext cx="3493008" cy="73152"/>
          </a:xfrm>
          <a:prstGeom prst="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3913631"/>
            <a:ext cx="29626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1B2D"/>
                </a:solidFill>
                <a:latin typeface="Apple SD 산돌고딕 Neo"/>
              </a:rPr>
              <a:t>권한 경계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4443983"/>
            <a:ext cx="2971800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6C7A"/>
                </a:solidFill>
                <a:latin typeface="Apple SD 산돌고딕 Neo"/>
              </a:rPr>
              <a:t>PM·reviewer 권한을 분리하고 AI endpoint는 backend 전용 bearer token을 요구합니다.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9016" y="3630168"/>
            <a:ext cx="3493008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9016" y="3630168"/>
            <a:ext cx="3493008" cy="73152"/>
          </a:xfrm>
          <a:prstGeom prst="rect">
            <a:avLst/>
          </a:prstGeom>
          <a:solidFill>
            <a:srgbClr val="2D5BA4"/>
          </a:solidFill>
          <a:ln>
            <a:solidFill>
              <a:srgbClr val="2D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3913631"/>
            <a:ext cx="29626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1B2D"/>
                </a:solidFill>
                <a:latin typeface="Apple SD 산돌고딕 Neo"/>
              </a:rPr>
              <a:t>모드 분리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4443983"/>
            <a:ext cx="2971800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6C7A"/>
                </a:solidFill>
                <a:latin typeface="Apple SD 산돌고딕 Neo"/>
              </a:rPr>
              <a:t>실제 API 모드와 Mock UX 모드를 분리해 시연 편의가 실연동 증거를 대체하지 않게 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46C7A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46C7A"/>
                </a:solidFill>
                <a:latin typeface="Apple SD 산돌고딕 Ne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5603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8662A"/>
                </a:solidFill>
                <a:latin typeface="Apple SD 산돌고딕 Neo"/>
              </a:rPr>
              <a:t>VERIFICATION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1B2D"/>
                </a:solidFill>
                <a:latin typeface="Apple SD 산돌고딕 Neo"/>
              </a:rPr>
              <a:t>검증 근거는 ‘재현 가능한 경로’로 제출합니다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49300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493008" cy="109728"/>
          </a:xfrm>
          <a:prstGeom prst="rect">
            <a:avLst/>
          </a:prstGeom>
          <a:solidFill>
            <a:srgbClr val="2D5BA4"/>
          </a:solidFill>
          <a:ln>
            <a:solidFill>
              <a:srgbClr val="2D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2880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1B2D"/>
                </a:solidFill>
                <a:latin typeface="Apple SD 산돌고딕 Neo"/>
              </a:rPr>
              <a:t>구현 증거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31720"/>
            <a:ext cx="2926080" cy="22860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D5BA4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UI 구현 캡처 7종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D5BA4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ERD PNG·DBML·schema SQL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D5BA4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API·기능·데이터 명세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D5BA4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AI flow·prompt·JSON schema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280160"/>
            <a:ext cx="349300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280160"/>
            <a:ext cx="3493008" cy="109728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664208"/>
            <a:ext cx="2880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1B2D"/>
                </a:solidFill>
                <a:latin typeface="Apple SD 산돌고딕 Neo"/>
              </a:rPr>
              <a:t>자동 검증 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331720"/>
            <a:ext cx="2926080" cy="22860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Backend: ./gradlew cleanTest test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AI: python -m pytest -q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Frontend: npm run build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E8662A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실 API: VITE_USE_MOCK=false npm run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280160"/>
            <a:ext cx="349300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280160"/>
            <a:ext cx="3493008" cy="109728"/>
          </a:xfrm>
          <a:prstGeom prst="rect">
            <a:avLst/>
          </a:prstGeom>
          <a:solidFill>
            <a:srgbClr val="2A8463"/>
          </a:solidFill>
          <a:ln>
            <a:solidFill>
              <a:srgbClr val="2A8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664208"/>
            <a:ext cx="2880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1B2D"/>
                </a:solidFill>
                <a:latin typeface="Apple SD 산돌고딕 Neo"/>
              </a:rPr>
              <a:t>실제 RAG E2E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31720"/>
            <a:ext cx="2926080" cy="22860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A8463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PDF upload·PDFBox extraction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A8463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VERIFIED facts·pgvector retrieval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A8463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Ollama analysis·RAG trace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A8463"/>
                </a:solidFill>
                <a:latin typeface="Apple SD 산돌고딕 Neo"/>
              </a:rPr>
              <a:t>●  </a:t>
            </a:r>
            <a:r>
              <a:rPr sz="1300">
                <a:solidFill>
                  <a:srgbClr val="212837"/>
                </a:solidFill>
                <a:latin typeface="Apple SD 산돌고딕 Neo"/>
              </a:rPr>
              <a:t>review 승인·Pattern·GuardFit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4974336"/>
            <a:ext cx="28803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A8463"/>
                </a:solidFill>
                <a:latin typeface="Apple SD 산돌고딕 Neo"/>
              </a:rPr>
              <a:t>API interception·mockServer 없이 수행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715000"/>
            <a:ext cx="11192256" cy="484632"/>
          </a:xfrm>
          <a:prstGeom prst="roundRect">
            <a:avLst/>
          </a:prstGeom>
          <a:solidFill>
            <a:srgbClr val="FCECE2"/>
          </a:solidFill>
          <a:ln>
            <a:solidFill>
              <a:srgbClr val="FCE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843016"/>
            <a:ext cx="10789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8662A"/>
                </a:solidFill>
                <a:latin typeface="Apple SD 산돌고딕 Neo"/>
              </a:rPr>
              <a:t>주의: health는 의존성 도달성만 확인합니다. 실제 분석 성공은 real-rag-full-flow-e2e.mjs로 별도 검증합니다.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46C7A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46C7A"/>
                </a:solidFill>
                <a:latin typeface="Apple SD 산돌고딕 Ne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5603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8662A"/>
                </a:solidFill>
                <a:latin typeface="Apple SD 산돌고딕 Neo"/>
              </a:rPr>
              <a:t>SCOPE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1B2D"/>
                </a:solidFill>
                <a:latin typeface="Apple SD 산돌고딕 Neo"/>
              </a:rPr>
              <a:t>데모의 한계를 명확히 말하는 것도 제품 신뢰의 일부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6720840" cy="452628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00784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산돌고딕 Neo"/>
              </a:rPr>
              <a:t>데이터 고지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53035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700" b="1">
                <a:solidFill>
                  <a:srgbClr val="E8662A"/>
                </a:solidFill>
                <a:latin typeface="Apple SD 산돌고딕 Neo"/>
              </a:rPr>
              <a:t>100% 합성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82112"/>
            <a:ext cx="57150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E5E9F1"/>
                </a:solidFill>
                <a:latin typeface="Apple SD 산돌고딕 Neo"/>
              </a:rPr>
              <a:t>상품명·PDF·정책·규정·수치는 실제 금융상품·회사·고객·규제기관·법령을 의미하지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09160"/>
            <a:ext cx="562356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B2BCCF"/>
                </a:solidFill>
                <a:latin typeface="Apple SD 산돌고딕 Neo"/>
              </a:rPr>
              <a:t>실제 투자 판단, 법률 판단, 금융 판매 자료로 사용할 수 없습니다.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9792" y="1298448"/>
            <a:ext cx="4215384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700784"/>
            <a:ext cx="3474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41B2D"/>
                </a:solidFill>
                <a:latin typeface="Apple SD 산돌고딕 Neo"/>
              </a:rPr>
              <a:t>명시적 비지원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359152"/>
            <a:ext cx="3429000" cy="24231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000">
                <a:solidFill>
                  <a:srgbClr val="BE4340"/>
                </a:solidFill>
                <a:latin typeface="Apple SD 산돌고딕 Neo"/>
              </a:rPr>
              <a:t>●  </a:t>
            </a:r>
            <a:r>
              <a:rPr sz="1500">
                <a:solidFill>
                  <a:srgbClr val="212837"/>
                </a:solidFill>
                <a:latin typeface="Apple SD 산돌고딕 Neo"/>
              </a:rPr>
              <a:t>이미지형 스캔 PDF OCR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000">
                <a:solidFill>
                  <a:srgbClr val="BE4340"/>
                </a:solidFill>
                <a:latin typeface="Apple SD 산돌고딕 Neo"/>
              </a:rPr>
              <a:t>●  </a:t>
            </a:r>
            <a:r>
              <a:rPr sz="1500">
                <a:solidFill>
                  <a:srgbClr val="212837"/>
                </a:solidFill>
                <a:latin typeface="Apple SD 산돌고딕 Neo"/>
              </a:rPr>
              <a:t>개인정보·상용 인증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000">
                <a:solidFill>
                  <a:srgbClr val="BE4340"/>
                </a:solidFill>
                <a:latin typeface="Apple SD 산돌고딕 Neo"/>
              </a:rPr>
              <a:t>●  </a:t>
            </a:r>
            <a:r>
              <a:rPr sz="1500">
                <a:solidFill>
                  <a:srgbClr val="212837"/>
                </a:solidFill>
                <a:latin typeface="Apple SD 산돌고딕 Neo"/>
              </a:rPr>
              <a:t>원격 배포·운영 모델 라이선스 관리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000">
                <a:solidFill>
                  <a:srgbClr val="BE4340"/>
                </a:solidFill>
                <a:latin typeface="Apple SD 산돌고딕 Neo"/>
              </a:rPr>
              <a:t>●  </a:t>
            </a:r>
            <a:r>
              <a:rPr sz="1500">
                <a:solidFill>
                  <a:srgbClr val="212837"/>
                </a:solidFill>
                <a:latin typeface="Apple SD 산돌고딕 Neo"/>
              </a:rPr>
              <a:t>실제 채널 자동 적용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000">
                <a:solidFill>
                  <a:srgbClr val="BE4340"/>
                </a:solidFill>
                <a:latin typeface="Apple SD 산돌고딕 Neo"/>
              </a:rPr>
              <a:t>●  </a:t>
            </a:r>
            <a:r>
              <a:rPr sz="1500">
                <a:solidFill>
                  <a:srgbClr val="212837"/>
                </a:solidFill>
                <a:latin typeface="Apple SD 산돌고딕 Neo"/>
              </a:rPr>
              <a:t>생성 결과의 법적 정확성 보증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230368"/>
            <a:ext cx="3337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BE4340"/>
                </a:solidFill>
                <a:latin typeface="Apple SD 산돌고딕 Neo"/>
              </a:rPr>
              <a:t>PDF 추출은 PDFBox text layer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46C7A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46C7A"/>
                </a:solidFill>
                <a:latin typeface="Apple SD 산돌고딕 Ne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5603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8662A"/>
                </a:solidFill>
                <a:latin typeface="Apple SD 산돌고딕 Neo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1B2D"/>
                </a:solidFill>
                <a:latin typeface="Apple SD 산돌고딕 Neo"/>
              </a:rPr>
              <a:t>5명이 하나의 검증 흐름을 완성했습니다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712" y="1609344"/>
            <a:ext cx="731520" cy="73152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737360"/>
            <a:ext cx="7315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ple SD 산돌고딕 Neo"/>
              </a:rPr>
              <a:t>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42032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1B2D"/>
                </a:solidFill>
                <a:latin typeface="Apple SD 산돌고딕 Neo"/>
              </a:rPr>
              <a:t>김지원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1691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646C7A"/>
                </a:solidFill>
                <a:latin typeface="Apple SD 산돌고딕 Neo"/>
              </a:rPr>
              <a:t>PM · API 설계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32588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0712" y="1609344"/>
            <a:ext cx="731520" cy="73152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737360"/>
            <a:ext cx="7315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ple SD 산돌고딕 Neo"/>
              </a:rPr>
              <a:t>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42032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1B2D"/>
                </a:solidFill>
                <a:latin typeface="Apple SD 산돌고딕 Neo"/>
              </a:rPr>
              <a:t>최도한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880360"/>
            <a:ext cx="1691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646C7A"/>
                </a:solidFill>
                <a:latin typeface="Apple SD 산돌고딕 Neo"/>
              </a:rPr>
              <a:t>Backend · Data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32588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96712" y="1609344"/>
            <a:ext cx="731520" cy="73152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1737360"/>
            <a:ext cx="7315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ple SD 산돌고딕 Neo"/>
              </a:rPr>
              <a:t>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542032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1B2D"/>
                </a:solidFill>
                <a:latin typeface="Apple SD 산돌고딕 Neo"/>
              </a:rPr>
              <a:t>손서현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880360"/>
            <a:ext cx="1691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646C7A"/>
                </a:solidFill>
                <a:latin typeface="Apple SD 산돌고딕 Neo"/>
              </a:rPr>
              <a:t>Backend · DevOps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132588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82712" y="1609344"/>
            <a:ext cx="731520" cy="73152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1737360"/>
            <a:ext cx="7315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ple SD 산돌고딕 Neo"/>
              </a:rPr>
              <a:t>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542032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1B2D"/>
                </a:solidFill>
                <a:latin typeface="Apple SD 산돌고딕 Neo"/>
              </a:rPr>
              <a:t>신주용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880360"/>
            <a:ext cx="1691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646C7A"/>
                </a:solidFill>
                <a:latin typeface="Apple SD 산돌고딕 Neo"/>
              </a:rPr>
              <a:t>Frontend · UI/UX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132588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268712" y="1609344"/>
            <a:ext cx="731520" cy="73152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2" y="1737360"/>
            <a:ext cx="7315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ple SD 산돌고딕 Neo"/>
              </a:rPr>
              <a:t>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542032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1B2D"/>
                </a:solidFill>
                <a:latin typeface="Apple SD 산돌고딕 Neo"/>
              </a:rPr>
              <a:t>정다운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880360"/>
            <a:ext cx="1691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646C7A"/>
                </a:solidFill>
                <a:latin typeface="Apple SD 산돌고딕 Neo"/>
              </a:rPr>
              <a:t>Frontend · UI/UX</a:t>
            </a:r>
          </a:p>
        </p:txBody>
      </p:sp>
      <p:pic>
        <p:nvPicPr>
          <p:cNvPr id="30" name="ARGUS 구현·설계 근거 이미지" descr="project-timeline.png"/>
          <p:cNvPicPr>
            <a:picLocks noChangeAspect="1"/>
          </p:cNvPicPr>
          <p:nvPr/>
        </p:nvPicPr>
        <p:blipFill>
          <a:blip r:embed="rId2"/>
          <a:srcRect t="27912" b="27912"/>
          <a:stretch>
            <a:fillRect/>
          </a:stretch>
        </p:blipFill>
        <p:spPr>
          <a:xfrm>
            <a:off x="502920" y="3584448"/>
            <a:ext cx="7543800" cy="1874519"/>
          </a:xfrm>
          <a:prstGeom prst="rect">
            <a:avLst/>
          </a:prstGeom>
          <a:ln w="10160">
            <a:solidFill>
              <a:srgbClr val="DCE0E6"/>
            </a:solidFill>
          </a:ln>
        </p:spPr>
      </p:pic>
      <p:sp>
        <p:nvSpPr>
          <p:cNvPr id="31" name="Rounded Rectangle 30"/>
          <p:cNvSpPr/>
          <p:nvPr/>
        </p:nvSpPr>
        <p:spPr>
          <a:xfrm>
            <a:off x="8302752" y="3584448"/>
            <a:ext cx="3392424" cy="1874519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3886200"/>
            <a:ext cx="2651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E8662A"/>
                </a:solidFill>
                <a:latin typeface="Apple SD 산돌고딕 Neo"/>
              </a:rPr>
              <a:t>Repository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407408"/>
            <a:ext cx="2596896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산돌고딕 Neo"/>
              </a:rPr>
              <a:t>github.com/skala-mini-project-web/mini-project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46C7A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46C7A"/>
                </a:solidFill>
                <a:latin typeface="Apple SD 산돌고딕 Ne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09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산돌고딕 Neo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3657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E8662A"/>
                </a:solidFill>
                <a:latin typeface="Apple SD 산돌고딕 Neo"/>
              </a:rPr>
              <a:t>ARGUS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7955279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ple SD 산돌고딕 Neo"/>
              </a:rPr>
              <a:t>근거를 찾고,
사람이 결정하고,
승인된 조치만 연결합니다.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572000"/>
            <a:ext cx="10789920" cy="54864"/>
          </a:xfrm>
          <a:prstGeom prst="rect">
            <a:avLst/>
          </a:prstGeom>
          <a:solidFill>
            <a:srgbClr val="E8662A"/>
          </a:solidFill>
          <a:ln>
            <a:solidFill>
              <a:srgbClr val="E86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001768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DAE0EB"/>
                </a:solidFill>
                <a:latin typeface="Apple SD 산돌고딕 Neo"/>
              </a:rPr>
              <a:t>금융상품 판매 리스크 사전검증 AI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22976"/>
            <a:ext cx="7315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A8B2C6"/>
                </a:solidFill>
                <a:latin typeface="Apple SD 산돌고딕 Neo"/>
              </a:rPr>
              <a:t>https://github.com/skala-mini-project-web/mini-project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5056632"/>
            <a:ext cx="1828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  <a:latin typeface="Apple SD 산돌고딕 Neo"/>
              </a:rPr>
              <a:t>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7AFBD"/>
                </a:solidFill>
                <a:latin typeface="Apple SD 산돌고딕 Neo"/>
              </a:rPr>
              <a:t>ARGUS · LOCAL-FIRST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A7AFBD"/>
                </a:solidFill>
                <a:latin typeface="Apple SD 산돌고딕 Neo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ARGUS 최종발표</dc:title>
  <dc:subject>금융상품 판매 리스크 사전검증 AI 플랫폼</dc:subject>
  <dc:creator>ARGUS 팀</dc:creator>
  <cp:keywords>ARGUS, RAG, Vue, Spring Boot, FastAPI, pgvector, Ollama</cp:keywords>
  <dc:description>합성 데모 데이터 기반의 로컬 MVP 최종발표 자료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